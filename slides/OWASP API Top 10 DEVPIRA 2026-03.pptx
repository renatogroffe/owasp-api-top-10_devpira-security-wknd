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38"/>
  </p:notesMasterIdLst>
  <p:handoutMasterIdLst>
    <p:handoutMasterId r:id="rId39"/>
  </p:handoutMasterIdLst>
  <p:sldIdLst>
    <p:sldId id="1393" r:id="rId8"/>
    <p:sldId id="1834" r:id="rId9"/>
    <p:sldId id="1707" r:id="rId10"/>
    <p:sldId id="1816" r:id="rId11"/>
    <p:sldId id="1765" r:id="rId12"/>
    <p:sldId id="1518" r:id="rId13"/>
    <p:sldId id="1708" r:id="rId14"/>
    <p:sldId id="1794" r:id="rId15"/>
    <p:sldId id="1796" r:id="rId16"/>
    <p:sldId id="1772" r:id="rId17"/>
    <p:sldId id="1777" r:id="rId18"/>
    <p:sldId id="1778" r:id="rId19"/>
    <p:sldId id="1780" r:id="rId20"/>
    <p:sldId id="1790" r:id="rId21"/>
    <p:sldId id="1791" r:id="rId22"/>
    <p:sldId id="1797" r:id="rId23"/>
    <p:sldId id="1789" r:id="rId24"/>
    <p:sldId id="1792" r:id="rId25"/>
    <p:sldId id="1775" r:id="rId26"/>
    <p:sldId id="1785" r:id="rId27"/>
    <p:sldId id="1783" r:id="rId28"/>
    <p:sldId id="1774" r:id="rId29"/>
    <p:sldId id="1782" r:id="rId30"/>
    <p:sldId id="1786" r:id="rId31"/>
    <p:sldId id="1835" r:id="rId32"/>
    <p:sldId id="1795" r:id="rId33"/>
    <p:sldId id="1842" r:id="rId34"/>
    <p:sldId id="1843" r:id="rId35"/>
    <p:sldId id="1836" r:id="rId36"/>
    <p:sldId id="1750" r:id="rId37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707"/>
            <p14:sldId id="1816"/>
            <p14:sldId id="1765"/>
            <p14:sldId id="1518"/>
            <p14:sldId id="1708"/>
            <p14:sldId id="1794"/>
            <p14:sldId id="1796"/>
            <p14:sldId id="1772"/>
            <p14:sldId id="1777"/>
            <p14:sldId id="1778"/>
            <p14:sldId id="1780"/>
            <p14:sldId id="1790"/>
            <p14:sldId id="1791"/>
            <p14:sldId id="1797"/>
            <p14:sldId id="1789"/>
            <p14:sldId id="1792"/>
            <p14:sldId id="1775"/>
            <p14:sldId id="1785"/>
            <p14:sldId id="1783"/>
            <p14:sldId id="1774"/>
            <p14:sldId id="1782"/>
            <p14:sldId id="1786"/>
            <p14:sldId id="1835"/>
            <p14:sldId id="1795"/>
            <p14:sldId id="1842"/>
            <p14:sldId id="1843"/>
          </p14:sldIdLst>
        </p14:section>
        <p14:section name="Finalizando" id="{CF622469-3E87-46BA-8ED6-912C47B00EF3}">
          <p14:sldIdLst>
            <p14:sldId id="1836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88" autoAdjust="0"/>
    <p:restoredTop sz="79472" autoAdjust="0"/>
  </p:normalViewPr>
  <p:slideViewPr>
    <p:cSldViewPr>
      <p:cViewPr varScale="1">
        <p:scale>
          <a:sx n="73" d="100"/>
          <a:sy n="73" d="100"/>
        </p:scale>
        <p:origin x="955" y="28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3/27/2026 2:45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3/27/2026 2:44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2:44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0026-45AA-519F-346F-FFA37972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9378C6-A486-2AF8-DBA6-64993571B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E49CB2-6730-1B88-A5B4-D0A24AD7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4D28189-4AD9-B890-A2D9-3806E5AF5F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BA62E7-40F1-07AE-BCE5-F492E4C3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7531B03-A448-1A00-8858-049C8CD2889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2082E-8AA7-AE50-D0B0-F4BAEF2219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9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64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CF4D-3A3B-12E0-D4CF-AA1EFC63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25D509-B508-F85F-5489-CFB5FFC70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421CEC-05ED-9F28-7CC9-70696C043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68E25C9-8F4B-C887-50FB-6E7DB7B9960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61A5AA-B1E9-E05C-2539-AECA5C97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8D56D23-EFB9-0E95-21D0-B588837EBDB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9AD07D-1690-674F-5662-7B3BFF956C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69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934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94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16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100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2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147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4371-6419-F00C-4B32-D41877E0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1D03AE-AA61-14DF-04E1-623380FF6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EE6024-3BFF-A82D-4E2C-EF141D851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BDEB0DD-4396-DF87-AC11-7B3D1FD648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96306-A491-696F-2242-22927CC0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0C1E0E3-67E3-E478-3F85-EDC1BE3BDC7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42BE54-34FF-9228-2D6E-15C020CDF3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0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619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264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82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36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90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79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52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476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12F8-0B25-62AA-DB7E-859C25B5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6CC9F8-D501-EA6C-39DC-289572EB4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A665CD-FDBE-BD01-625D-486373D70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6EDFAC5-DB30-2D43-81A4-CAF647EA08E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9CC25-264E-EB48-A82A-573197D7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F4804BD-B6D1-D1C0-8C5B-BDB71E11B86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5CB910-F976-C871-2C71-56508981809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706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5639-B6BE-D0C5-7B6D-CF87244F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1D5ADA-6AE4-B3F6-C83F-404B3329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26BCE4-1D94-F697-751C-17A7BF76F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9BB3D03-EEE3-5287-60CA-4202846D072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48C61-164F-83F2-56AC-2E544A87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BE2228F-6B49-4599-7275-B696C8D51F2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979304-98C1-DED5-A0BC-536B799B33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643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8564-F751-9451-572A-78F0F64C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E545DA-7D7F-4B88-0351-56E5FAE67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2DD8C9-4846-4744-906C-F752E6C76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7359EB4-EAEB-51EE-0222-01A26BCE94B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F02BB0-32F4-E019-F6C7-A8CC5397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3E069F9-4BFA-3425-771E-24B8CCE6D32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DFF760-B4F4-ADE9-F74B-DDE43F3565E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39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87A8-5753-FA39-59CB-90BEC3BD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DC5E55-6D03-0B71-00FD-1DA1F3B9D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BA94D7-9EE0-FC73-A38A-8ED326F6F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00CAB98-DB38-9097-7848-5E9D42BCBE1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112533-9717-B427-4AC7-C1817C02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30E20A3-243C-AE4B-02A7-A5F6A812A5E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2A91A2-2FE6-042E-F5DB-28676BF9AE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16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14A4-7703-3BC2-A5B8-0482DB87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9DD73D-5D64-8185-6090-E8F6DCDF5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B85963-1CFF-0D26-2505-E79FE76CD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213C9E9-A874-FE6A-57CA-139C20349DD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1BC14-BBBB-EADD-D4DE-D77AB603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6979ECE-A484-A1F5-9A37-385AFEC891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3/27/2026 2:45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83DAD9-0E3B-0C8E-2800-86AC01A713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1206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3/27/2026 2:45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10" Type="http://schemas.openxmlformats.org/officeDocument/2006/relationships/image" Target="../media/image15.sv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uxfoundation.org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5.pn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394849"/>
            <a:ext cx="11201400" cy="2297169"/>
          </a:xfrm>
        </p:spPr>
        <p:txBody>
          <a:bodyPr/>
          <a:lstStyle/>
          <a:p>
            <a:r>
              <a:rPr lang="pt-BR" b="1" dirty="0"/>
              <a:t>OWASP API Security Top 10</a:t>
            </a:r>
            <a:br>
              <a:rPr lang="pt-BR" sz="4800" b="1" dirty="0"/>
            </a:br>
            <a:r>
              <a:rPr lang="pt-BR" sz="4800" b="1" dirty="0"/>
              <a:t>Um guia para a implementação de</a:t>
            </a:r>
            <a:br>
              <a:rPr lang="pt-BR" sz="4800" b="1" dirty="0"/>
            </a:br>
            <a:r>
              <a:rPr lang="pt-BR" sz="4800" b="1" dirty="0"/>
              <a:t>Back-</a:t>
            </a:r>
            <a:r>
              <a:rPr lang="pt-BR" sz="4800" b="1" dirty="0" err="1"/>
              <a:t>Ends</a:t>
            </a:r>
            <a:r>
              <a:rPr lang="pt-BR" sz="4800" b="1" dirty="0"/>
              <a:t> mais seguros</a:t>
            </a:r>
            <a:endParaRPr lang="pt-BR" sz="3600" dirty="0"/>
          </a:p>
        </p:txBody>
      </p:sp>
      <p:pic>
        <p:nvPicPr>
          <p:cNvPr id="3" name="Imagem 2" descr="Imagem digital fictícia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9E5E2309-B944-410F-85A9-E9650CD8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237" y="2708433"/>
            <a:ext cx="2365249" cy="2365249"/>
          </a:xfrm>
          <a:prstGeom prst="rect">
            <a:avLst/>
          </a:prstGeom>
        </p:spPr>
      </p:pic>
      <p:pic>
        <p:nvPicPr>
          <p:cNvPr id="6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B4AD25DF-7FCE-11A7-027C-B3F293338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 descr="Uma imagem contendo desenho&#10;&#10;Descrição gerada automaticamente">
            <a:extLst>
              <a:ext uri="{FF2B5EF4-FFF2-40B4-BE49-F238E27FC236}">
                <a16:creationId xmlns:a16="http://schemas.microsoft.com/office/drawing/2014/main" id="{CDA2E2D4-5FE5-170F-7F1D-049FBB0D03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9" name="Imagem 8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2BEC0292-B6D8-21DC-14D7-DC9C10A8E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10" name="Imagem 9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5AD60979-FC99-287F-CEE2-6F36379A2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A455DF6-9A61-3720-A319-B750CA10D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6C06DF0-016C-BF18-EC24-D49BBEB0CB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0437" y="5860184"/>
            <a:ext cx="2388967" cy="955587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A2DC964-19D8-2BAD-A22D-308E915FC2FF}"/>
              </a:ext>
            </a:extLst>
          </p:cNvPr>
          <p:cNvSpPr txBox="1">
            <a:spLocks/>
          </p:cNvSpPr>
          <p:nvPr/>
        </p:nvSpPr>
        <p:spPr bwMode="white">
          <a:xfrm>
            <a:off x="805981" y="2887662"/>
            <a:ext cx="8003056" cy="1872045"/>
          </a:xfrm>
          <a:prstGeom prst="rect">
            <a:avLst/>
          </a:prstGeom>
          <a:noFill/>
        </p:spPr>
        <p:txBody>
          <a:bodyPr vert="horz" wrap="square" lIns="146304" tIns="109728" rIns="146304" bIns="109728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Renato Groffe</a:t>
            </a:r>
          </a:p>
          <a:p>
            <a:r>
              <a:rPr lang="en-US" sz="2400" dirty="0"/>
              <a:t>Microsoft MVP, Docker Captain, Grafana Champion,</a:t>
            </a:r>
            <a:br>
              <a:rPr lang="en-US" sz="2400" dirty="0"/>
            </a:br>
            <a:r>
              <a:rPr lang="en-US" sz="2400" dirty="0" err="1"/>
              <a:t>APIsec</a:t>
            </a:r>
            <a:r>
              <a:rPr lang="en-US" sz="2400" dirty="0"/>
              <a:t> U Ambassador,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98BA-88D4-9686-83A1-33083A24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8855D-185C-79EB-DF0D-2BAF797C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91FA976-1BB4-CDE7-AC21-92068D1C197C}"/>
              </a:ext>
            </a:extLst>
          </p:cNvPr>
          <p:cNvSpPr>
            <a:spLocks noGrp="1"/>
          </p:cNvSpPr>
          <p:nvPr/>
        </p:nvSpPr>
        <p:spPr>
          <a:xfrm>
            <a:off x="1227137" y="3878262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816198DA-D23A-F5F1-B5BA-6881527B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37" y="4852294"/>
            <a:ext cx="4326096" cy="1635264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3A00999C-5C0C-5787-9730-01AF7B60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60" y="1214437"/>
            <a:ext cx="250825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46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02D58734-920C-E960-1401-72AF8DCB24E9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5447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600" b="1" dirty="0">
                <a:solidFill>
                  <a:schemeClr val="bg1"/>
                </a:solidFill>
              </a:rPr>
              <a:t>github.com/renatogroffe/owasp-api-top-10_devpira-security-wknd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0948E5EC-910E-B8C5-39D2-E2E25C61F4FD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5" name="Imagem 4" descr="Forma&#10;&#10;Descrição gerada automaticamente com confiança média">
            <a:extLst>
              <a:ext uri="{FF2B5EF4-FFF2-40B4-BE49-F238E27FC236}">
                <a16:creationId xmlns:a16="http://schemas.microsoft.com/office/drawing/2014/main" id="{52511081-79FA-9D75-AD2F-31B379B8AA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5250234" y="4728908"/>
            <a:ext cx="1936006" cy="19703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7A98E21-0D46-8109-5F44-F1A5059DB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05" y="989518"/>
            <a:ext cx="2887663" cy="288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87462"/>
            <a:ext cx="11810999" cy="251145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Alguns conceitos importantes de segurança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94949"/>
                </a:solidFill>
              </a:rPr>
              <a:t>OWASP API Security Top 10: </a:t>
            </a:r>
            <a:r>
              <a:rPr lang="en-US" sz="3600" dirty="0" err="1">
                <a:solidFill>
                  <a:srgbClr val="494949"/>
                </a:solidFill>
              </a:rPr>
              <a:t>uma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visão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geral</a:t>
            </a:r>
            <a:endParaRPr lang="en-US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494949"/>
                </a:solidFill>
              </a:rPr>
              <a:t>Certificações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gratuitas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na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área</a:t>
            </a:r>
            <a:endParaRPr lang="en-US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494949"/>
                </a:solidFill>
              </a:rPr>
              <a:t>Outras</a:t>
            </a:r>
            <a:r>
              <a:rPr lang="en-US" sz="3600" dirty="0">
                <a:solidFill>
                  <a:srgbClr val="494949"/>
                </a:solidFill>
              </a:rPr>
              <a:t> </a:t>
            </a:r>
            <a:r>
              <a:rPr lang="en-US" sz="3600" dirty="0" err="1">
                <a:solidFill>
                  <a:srgbClr val="494949"/>
                </a:solidFill>
              </a:rPr>
              <a:t>iniciativas</a:t>
            </a:r>
            <a:r>
              <a:rPr lang="en-US" sz="3600" dirty="0">
                <a:solidFill>
                  <a:srgbClr val="494949"/>
                </a:solidFill>
              </a:rPr>
              <a:t> OWASP </a:t>
            </a:r>
            <a:r>
              <a:rPr lang="en-US" sz="3600" dirty="0" err="1">
                <a:solidFill>
                  <a:srgbClr val="494949"/>
                </a:solidFill>
              </a:rPr>
              <a:t>importantes</a:t>
            </a: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5" name="Imagem 4" descr="Forma&#10;&#10;Descrição gerada automaticamente com confiança média">
            <a:extLst>
              <a:ext uri="{FF2B5EF4-FFF2-40B4-BE49-F238E27FC236}">
                <a16:creationId xmlns:a16="http://schemas.microsoft.com/office/drawing/2014/main" id="{9295D969-6C6C-0C69-1164-09DC8DE30A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4873774" y="3802062"/>
            <a:ext cx="2612725" cy="26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1D0BBDA0-21FD-A441-0C70-0AF1FD1BA764}"/>
              </a:ext>
            </a:extLst>
          </p:cNvPr>
          <p:cNvSpPr/>
          <p:nvPr/>
        </p:nvSpPr>
        <p:spPr bwMode="auto">
          <a:xfrm>
            <a:off x="7970837" y="2201862"/>
            <a:ext cx="1828800" cy="182880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Conceitos e pontos importantes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44709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Autenticação (identidade)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Autorização (permissões)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Tokens JWT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2D92A28-D731-12EC-F3BA-B2DED0FFB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9637" y="3268662"/>
            <a:ext cx="1609725" cy="16097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E588C9C-A3C5-07BC-FC99-69FAC85661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3237" y="235426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1467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OWASP API Security Top 10: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56740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Última compilação realizada em </a:t>
            </a:r>
            <a:r>
              <a:rPr lang="pt-BR" sz="3200" b="1" dirty="0">
                <a:solidFill>
                  <a:srgbClr val="494949"/>
                </a:solidFill>
              </a:rPr>
              <a:t>2023</a:t>
            </a:r>
            <a:r>
              <a:rPr lang="pt-BR" sz="3200" dirty="0">
                <a:solidFill>
                  <a:srgbClr val="494949"/>
                </a:solidFill>
              </a:rPr>
              <a:t> pela </a:t>
            </a:r>
            <a:r>
              <a:rPr lang="pt-BR" sz="3200" b="1" dirty="0">
                <a:solidFill>
                  <a:srgbClr val="494949"/>
                </a:solidFill>
              </a:rPr>
              <a:t>OWASP (</a:t>
            </a:r>
            <a:r>
              <a:rPr lang="en-US" sz="3200" b="1" dirty="0">
                <a:solidFill>
                  <a:srgbClr val="494949"/>
                </a:solidFill>
              </a:rPr>
              <a:t>Open Worldwide Application Security Project)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494949"/>
                </a:solidFill>
              </a:rPr>
              <a:t>Vulnerabilidades</a:t>
            </a:r>
            <a:r>
              <a:rPr lang="en-US" sz="3200" dirty="0">
                <a:solidFill>
                  <a:srgbClr val="494949"/>
                </a:solidFill>
              </a:rPr>
              <a:t> </a:t>
            </a:r>
            <a:r>
              <a:rPr lang="en-US" sz="3200" dirty="0" err="1">
                <a:solidFill>
                  <a:srgbClr val="494949"/>
                </a:solidFill>
              </a:rPr>
              <a:t>mais</a:t>
            </a:r>
            <a:r>
              <a:rPr lang="en-US" sz="3200" dirty="0">
                <a:solidFill>
                  <a:srgbClr val="494949"/>
                </a:solidFill>
              </a:rPr>
              <a:t> </a:t>
            </a:r>
            <a:r>
              <a:rPr lang="en-US" sz="3200" dirty="0" err="1">
                <a:solidFill>
                  <a:srgbClr val="494949"/>
                </a:solidFill>
              </a:rPr>
              <a:t>comuns</a:t>
            </a:r>
            <a:endParaRPr lang="en-US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94949"/>
                </a:solidFill>
              </a:rPr>
              <a:t>APIs </a:t>
            </a:r>
            <a:r>
              <a:rPr lang="en-US" sz="3200" dirty="0" err="1">
                <a:solidFill>
                  <a:srgbClr val="494949"/>
                </a:solidFill>
              </a:rPr>
              <a:t>são</a:t>
            </a:r>
            <a:r>
              <a:rPr lang="en-US" sz="3200" dirty="0">
                <a:solidFill>
                  <a:srgbClr val="494949"/>
                </a:solidFill>
              </a:rPr>
              <a:t> um </a:t>
            </a:r>
            <a:r>
              <a:rPr lang="en-US" sz="3200" dirty="0" err="1">
                <a:solidFill>
                  <a:srgbClr val="494949"/>
                </a:solidFill>
              </a:rPr>
              <a:t>elemento</a:t>
            </a:r>
            <a:r>
              <a:rPr lang="en-US" sz="3200" dirty="0">
                <a:solidFill>
                  <a:srgbClr val="494949"/>
                </a:solidFill>
              </a:rPr>
              <a:t> central </a:t>
            </a:r>
            <a:r>
              <a:rPr lang="en-US" sz="3200" dirty="0" err="1">
                <a:solidFill>
                  <a:srgbClr val="494949"/>
                </a:solidFill>
              </a:rPr>
              <a:t>nas</a:t>
            </a:r>
            <a:r>
              <a:rPr lang="en-US" sz="3200" dirty="0">
                <a:solidFill>
                  <a:srgbClr val="494949"/>
                </a:solidFill>
              </a:rPr>
              <a:t> </a:t>
            </a:r>
            <a:r>
              <a:rPr lang="en-US" sz="3200" dirty="0" err="1">
                <a:solidFill>
                  <a:srgbClr val="494949"/>
                </a:solidFill>
              </a:rPr>
              <a:t>mais</a:t>
            </a:r>
            <a:r>
              <a:rPr lang="en-US" sz="3200" dirty="0">
                <a:solidFill>
                  <a:srgbClr val="494949"/>
                </a:solidFill>
              </a:rPr>
              <a:t> </a:t>
            </a:r>
            <a:r>
              <a:rPr lang="en-US" sz="3200" dirty="0" err="1">
                <a:solidFill>
                  <a:srgbClr val="494949"/>
                </a:solidFill>
              </a:rPr>
              <a:t>variadas</a:t>
            </a:r>
            <a:r>
              <a:rPr lang="en-US" sz="3200" dirty="0">
                <a:solidFill>
                  <a:srgbClr val="494949"/>
                </a:solidFill>
              </a:rPr>
              <a:t> </a:t>
            </a:r>
            <a:r>
              <a:rPr lang="en-US" sz="3200" dirty="0" err="1">
                <a:solidFill>
                  <a:srgbClr val="494949"/>
                </a:solidFill>
              </a:rPr>
              <a:t>arquiteturas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93F2250E-6EAF-9091-98B6-21C8977DE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8123237" y="2125662"/>
            <a:ext cx="3354907" cy="3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168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5FE4-2691-6508-5A2E-1CFD9594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EABB7-8C85-7382-4E1D-096BD9BE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OWASP API Security Top 10: uma visão geral</a:t>
            </a:r>
          </a:p>
        </p:txBody>
      </p:sp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0E1B978-BFBB-93D5-5636-2EA0A56AB5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8123237" y="2125662"/>
            <a:ext cx="3354907" cy="34144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6E99763-FD8B-B2E4-9B9A-33399FA98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37" y="1058862"/>
            <a:ext cx="7315200" cy="57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193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API1:2023 - Broken Object Level Authorization (BOLA)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12420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Acesso indevido a informações, utilizando </a:t>
            </a:r>
            <a:r>
              <a:rPr lang="pt-BR" sz="3200" dirty="0" err="1">
                <a:solidFill>
                  <a:srgbClr val="494949"/>
                </a:solidFill>
              </a:rPr>
              <a:t>IDs</a:t>
            </a:r>
            <a:r>
              <a:rPr lang="pt-BR" sz="3200" dirty="0">
                <a:solidFill>
                  <a:srgbClr val="494949"/>
                </a:solidFill>
              </a:rPr>
              <a:t> e outros dados que podem ser inferidos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Definir níveis de acesso às informações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Usar </a:t>
            </a:r>
            <a:r>
              <a:rPr lang="pt-BR" sz="3200" dirty="0" err="1">
                <a:solidFill>
                  <a:srgbClr val="494949"/>
                </a:solidFill>
              </a:rPr>
              <a:t>IDs</a:t>
            </a:r>
            <a:r>
              <a:rPr lang="pt-BR" sz="3200" dirty="0">
                <a:solidFill>
                  <a:srgbClr val="494949"/>
                </a:solidFill>
              </a:rPr>
              <a:t> gerados randomicamente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F607616-DEF9-9A7C-4168-2AAAA4787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2513007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API1:2023 - Broken Object Level Authorization (BOLA)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20B32832-82AB-3509-DA0E-D9A7630C2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9237" y="3125787"/>
            <a:ext cx="1295400" cy="12954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E139DE19-5B36-7CC2-1A28-64B8DDACA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6437" y="1744662"/>
            <a:ext cx="1381125" cy="138112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879B47DB-666E-DB4C-7476-E02040A64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6437" y="4030662"/>
            <a:ext cx="1381125" cy="138112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4ACDE5-7B9D-48E5-E10A-025999DD29C9}"/>
              </a:ext>
            </a:extLst>
          </p:cNvPr>
          <p:cNvSpPr txBox="1"/>
          <p:nvPr/>
        </p:nvSpPr>
        <p:spPr>
          <a:xfrm>
            <a:off x="2484437" y="4421187"/>
            <a:ext cx="20574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Usuário 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82F954-3150-888D-9527-0789DA85AF1E}"/>
              </a:ext>
            </a:extLst>
          </p:cNvPr>
          <p:cNvSpPr txBox="1"/>
          <p:nvPr/>
        </p:nvSpPr>
        <p:spPr>
          <a:xfrm>
            <a:off x="8351837" y="1955092"/>
            <a:ext cx="2057400" cy="9602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Dados Usuário 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1F8F5DE-C062-DBAC-A676-015A5BEC5EDF}"/>
              </a:ext>
            </a:extLst>
          </p:cNvPr>
          <p:cNvSpPr txBox="1"/>
          <p:nvPr/>
        </p:nvSpPr>
        <p:spPr>
          <a:xfrm>
            <a:off x="8351837" y="4241092"/>
            <a:ext cx="2057400" cy="9602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Dados Usuário B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3E991ED-CECA-1DF3-CC2E-725E3B23D6E2}"/>
              </a:ext>
            </a:extLst>
          </p:cNvPr>
          <p:cNvCxnSpPr/>
          <p:nvPr/>
        </p:nvCxnSpPr>
        <p:spPr>
          <a:xfrm flipV="1">
            <a:off x="4160837" y="2435223"/>
            <a:ext cx="2667000" cy="113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CE11B9F-6E22-B6A9-E2F8-82EF182EC851}"/>
              </a:ext>
            </a:extLst>
          </p:cNvPr>
          <p:cNvCxnSpPr>
            <a:cxnSpLocks/>
          </p:cNvCxnSpPr>
          <p:nvPr/>
        </p:nvCxnSpPr>
        <p:spPr>
          <a:xfrm>
            <a:off x="4198937" y="4183062"/>
            <a:ext cx="2781300" cy="6858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0442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API2:2023 - Broken Authentication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12420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Tokens de autenticação podem ser comprometidos através de manipulação dos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Senhas fracas, </a:t>
            </a:r>
            <a:r>
              <a:rPr lang="pt-BR" sz="3200" dirty="0" err="1">
                <a:solidFill>
                  <a:srgbClr val="494949"/>
                </a:solidFill>
              </a:rPr>
              <a:t>credential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stuffing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JWT não envolve criptografia num </a:t>
            </a:r>
            <a:r>
              <a:rPr lang="pt-BR" sz="3200" dirty="0" err="1">
                <a:solidFill>
                  <a:srgbClr val="494949"/>
                </a:solidFill>
              </a:rPr>
              <a:t>payload</a:t>
            </a:r>
            <a:r>
              <a:rPr lang="pt-BR" sz="3200" dirty="0">
                <a:solidFill>
                  <a:srgbClr val="494949"/>
                </a:solidFill>
              </a:rPr>
              <a:t> (</a:t>
            </a:r>
            <a:r>
              <a:rPr lang="pt-BR" sz="3200" b="1" dirty="0">
                <a:solidFill>
                  <a:srgbClr val="494949"/>
                </a:solidFill>
              </a:rPr>
              <a:t>base64</a:t>
            </a:r>
            <a:r>
              <a:rPr lang="pt-BR" sz="3200" dirty="0">
                <a:solidFill>
                  <a:srgbClr val="494949"/>
                </a:solidFill>
              </a:rPr>
              <a:t>)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6228939-C2B8-605A-307E-F40AC31C1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3565697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API3:2023 - Broken Object Property Level Authorization (BOPLA)</a:t>
            </a:r>
            <a:endParaRPr lang="pt-BR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90083"/>
            <a:ext cx="70080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Exposição de dados em excesso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Dados sensíveis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Possibilidade de edição de dados sensíveis (senha, dados pessoais, documentos)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Falta de melhores controles de autenticação/autorização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5833F27-9342-8193-9DE6-30085A0B6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894646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API4:2023 - Unrestricted Resource Consumption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90083"/>
            <a:ext cx="8077198" cy="323780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Uso de APIs sem restrições e até a exaustão de recursos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rgbClr val="494949"/>
                </a:solidFill>
              </a:rPr>
              <a:t>Denial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of</a:t>
            </a:r>
            <a:r>
              <a:rPr lang="pt-BR" sz="3200" dirty="0">
                <a:solidFill>
                  <a:srgbClr val="494949"/>
                </a:solidFill>
              </a:rPr>
              <a:t> Service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Degradação de performance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0EFCE4F2-7F05-90F3-6D8E-EE29EB47E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5733917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API4:2023 - Unrestricted Resource Consumption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90083"/>
            <a:ext cx="8077198" cy="432118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APIs Gateways com policies limitando uso de APIs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Rate </a:t>
            </a:r>
            <a:r>
              <a:rPr lang="pt-BR" sz="3200" dirty="0" err="1">
                <a:solidFill>
                  <a:srgbClr val="494949"/>
                </a:solidFill>
              </a:rPr>
              <a:t>Limit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Erro 429 (Too </a:t>
            </a:r>
            <a:r>
              <a:rPr lang="pt-BR" sz="3200" dirty="0" err="1">
                <a:solidFill>
                  <a:srgbClr val="494949"/>
                </a:solidFill>
              </a:rPr>
              <a:t>many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requests</a:t>
            </a:r>
            <a:r>
              <a:rPr lang="pt-BR" sz="3200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Azure API Management, Kong...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8442F24-BCB7-9EB0-0E84-FC0FBF333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9888986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2949-00EF-401E-C663-77756B4D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7FB35-17E5-7A40-6033-67AFCD45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API4:2023 - Unrestricted Resource Consumption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227027-2E83-8A19-15AC-C5EEA6EFD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8" y="1135062"/>
            <a:ext cx="11341478" cy="552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1834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API5:2023 - Broken Function Level Authorization (BFLA)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90083"/>
            <a:ext cx="7008034" cy="496751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Capacidade do Usuário A executar transações em nome do Usuário 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BOLA (visualização de dados) x</a:t>
            </a:r>
            <a:br>
              <a:rPr lang="pt-BR" sz="2800" dirty="0">
                <a:solidFill>
                  <a:srgbClr val="494949"/>
                </a:solidFill>
              </a:rPr>
            </a:br>
            <a:r>
              <a:rPr lang="pt-BR" sz="2800" dirty="0">
                <a:solidFill>
                  <a:srgbClr val="494949"/>
                </a:solidFill>
              </a:rPr>
              <a:t>BFLA (transações)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Cuidados expondo </a:t>
            </a:r>
            <a:r>
              <a:rPr lang="pt-BR" sz="2800" dirty="0" err="1">
                <a:solidFill>
                  <a:srgbClr val="494949"/>
                </a:solidFill>
              </a:rPr>
              <a:t>endpoints</a:t>
            </a:r>
            <a:r>
              <a:rPr lang="pt-BR" sz="2800" dirty="0">
                <a:solidFill>
                  <a:srgbClr val="494949"/>
                </a:solidFill>
              </a:rPr>
              <a:t> do tipo POST, PUT, DELETE ou de funções administrativas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Definir controles de autorização claros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85B053BE-513A-0158-78C4-2EC45C129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2641509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API6:2023 - Unrestricted Access to Sensitive Business Flows</a:t>
            </a:r>
            <a:endParaRPr lang="pt-BR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90083"/>
            <a:ext cx="7008034" cy="419191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Ataques direcionados a APIs que fazem parte de um fluxo específico do negócio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Comprometer operações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Limitar o acesso a APIs críticas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Instrumentação/</a:t>
            </a:r>
            <a:r>
              <a:rPr lang="pt-BR" sz="2800" dirty="0" err="1">
                <a:solidFill>
                  <a:srgbClr val="494949"/>
                </a:solidFill>
              </a:rPr>
              <a:t>Observabilidade</a:t>
            </a:r>
            <a:r>
              <a:rPr lang="pt-BR" sz="2800" dirty="0">
                <a:solidFill>
                  <a:srgbClr val="494949"/>
                </a:solidFill>
              </a:rPr>
              <a:t>, analisando tráfegos anormais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757BCBDE-46A6-24C3-60CF-58484AAE4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9232288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API7:2023 Server Side Request Forgery  (SSRF)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619998" cy="323780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URLs informadas por um consumidor podem levar a eventuais ataques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Validar dados fornecidos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Evitar redirecionamentos via HTTP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1CA87C1-212A-996A-1D7F-C5DE660C9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777904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API7:2023 Server Side Request Forgery  (SSRF)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589D9C-81B5-5C3F-9461-1B49FCE8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37" y="2201862"/>
            <a:ext cx="9018576" cy="3677478"/>
          </a:xfrm>
          <a:prstGeom prst="rect">
            <a:avLst/>
          </a:prstGeom>
        </p:spPr>
      </p:pic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CBA30A4E-E500-FC29-233C-7CFF515D8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7" y="1287462"/>
            <a:ext cx="7619998" cy="62786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Uma tentativa de </a:t>
            </a:r>
            <a:r>
              <a:rPr lang="pt-BR" sz="3200" dirty="0" err="1">
                <a:solidFill>
                  <a:srgbClr val="494949"/>
                </a:solidFill>
              </a:rPr>
              <a:t>port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scanning</a:t>
            </a:r>
            <a:r>
              <a:rPr lang="pt-BR" sz="3200" dirty="0">
                <a:solidFill>
                  <a:srgbClr val="494949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6683978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API8:2023 - Security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Misconfiguration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619998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Cuidados com o que for manipulado via Header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Evitar o uso de contas default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Evitar mensagens de erro “verbosas”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Necessidade de implementar CORS (Cross-</a:t>
            </a:r>
            <a:r>
              <a:rPr lang="pt-BR" sz="3200" dirty="0" err="1">
                <a:solidFill>
                  <a:srgbClr val="494949"/>
                </a:solidFill>
              </a:rPr>
              <a:t>Origin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Resource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Sharing</a:t>
            </a:r>
            <a:r>
              <a:rPr lang="pt-BR" sz="3200" dirty="0">
                <a:solidFill>
                  <a:srgbClr val="494949"/>
                </a:solidFill>
              </a:rPr>
              <a:t>)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8136103-26FB-5246-C135-E3BE5D0DE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175246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API8:2023 - Security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Misconfiguration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12420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Não libere o uso de métodos HTTP desnecessários para um </a:t>
            </a:r>
            <a:r>
              <a:rPr lang="pt-BR" sz="3200" dirty="0" err="1">
                <a:solidFill>
                  <a:srgbClr val="494949"/>
                </a:solidFill>
              </a:rPr>
              <a:t>endpoint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Falta de um melhor tratamento de dados de Input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Forçar o tráfego de dados em formato encriptado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6F8401C-B45C-F444-BF30-EF964956C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4843404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API9:2023 -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Improper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Inventory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Management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848598" cy="419191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494949"/>
                </a:solidFill>
              </a:rPr>
              <a:t>Endpoints</a:t>
            </a:r>
            <a:r>
              <a:rPr lang="pt-BR" sz="2800" dirty="0">
                <a:solidFill>
                  <a:srgbClr val="494949"/>
                </a:solidFill>
              </a:rPr>
              <a:t> de versões antigas podem permanecer disponíveis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Constituem brechas para outros tipos de ataque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Cuidados com o que será exposto via </a:t>
            </a:r>
            <a:r>
              <a:rPr lang="pt-BR" sz="2800" dirty="0" err="1">
                <a:solidFill>
                  <a:srgbClr val="494949"/>
                </a:solidFill>
              </a:rPr>
              <a:t>OpenAPI</a:t>
            </a: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494949"/>
                </a:solidFill>
              </a:rPr>
              <a:t>APIOps</a:t>
            </a:r>
            <a:r>
              <a:rPr lang="pt-BR" sz="2800" dirty="0">
                <a:solidFill>
                  <a:srgbClr val="494949"/>
                </a:solidFill>
              </a:rPr>
              <a:t> e API Gateways contribuem para uma melhor governança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9F9B268-B6F7-6F8A-75B3-39D90E645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1955267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API10:2023 - Unsafe Consumption of APIs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391398" cy="456740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Integrações sempre estão presentes em projetos corporativos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APIs de terceiros podem ser uma porta de entrada para ataques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Garantir que boas práticas de segurança são também adotadas por parceiros e fornecedores 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6CE94CE-50B0-18E8-80D6-5119CB59D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75637" y="2201862"/>
            <a:ext cx="3124200" cy="3124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9334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187E-A49A-7195-B517-C2A05F5C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18C3A-604A-3541-679E-42F12364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25B085A7-FE23-D241-EA97-105F0E9EC632}"/>
              </a:ext>
            </a:extLst>
          </p:cNvPr>
          <p:cNvSpPr>
            <a:spLocks noGrp="1"/>
          </p:cNvSpPr>
          <p:nvPr/>
        </p:nvSpPr>
        <p:spPr>
          <a:xfrm>
            <a:off x="1227137" y="3878262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429E0587-980E-EAD7-D450-16A1127D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37" y="4852294"/>
            <a:ext cx="4326096" cy="1635264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88ACC828-6AB4-3BB6-4E93-95A902318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60" y="1214437"/>
            <a:ext cx="250825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3828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0A402-A681-AAB8-87F7-3F744774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5B2F6-ED3E-210B-8BAD-4647C868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Cibersegurança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6CCD85-C464-1FC1-3FF8-2C4B1C3359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7754" y="1836896"/>
            <a:ext cx="11810999" cy="572464"/>
          </a:xfrm>
        </p:spPr>
        <p:txBody>
          <a:bodyPr/>
          <a:lstStyle/>
          <a:p>
            <a:pPr algn="ctr"/>
            <a:r>
              <a:rPr lang="pt-BR" sz="2800" b="1" dirty="0">
                <a:solidFill>
                  <a:srgbClr val="494949"/>
                </a:solidFill>
                <a:hlinkClick r:id="rId3"/>
              </a:rPr>
              <a:t>https://www.linuxfoundation.org/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8" name="Imagem 7" descr="Texto, Logotipo&#10;&#10;Descrição gerada automaticamente">
            <a:extLst>
              <a:ext uri="{FF2B5EF4-FFF2-40B4-BE49-F238E27FC236}">
                <a16:creationId xmlns:a16="http://schemas.microsoft.com/office/drawing/2014/main" id="{2A8C92F2-839E-025D-3E72-44B36FAC1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337" y="2887662"/>
            <a:ext cx="5255799" cy="159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1791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63B3-F827-CE15-AF5F-5D80D0F2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0CF07-2139-E55F-944C-DBDDA7AE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Outras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iniciativas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OWASP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importantes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6DB431-1188-363E-163F-526578A6E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391398" cy="432118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OWASP Top 10:2025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OWASP MCP Top 10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OWASP </a:t>
            </a:r>
            <a:r>
              <a:rPr lang="pt-BR" sz="3200" dirty="0" err="1">
                <a:solidFill>
                  <a:srgbClr val="494949"/>
                </a:solidFill>
              </a:rPr>
              <a:t>Cheat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dirty="0" err="1">
                <a:solidFill>
                  <a:srgbClr val="494949"/>
                </a:solidFill>
              </a:rPr>
              <a:t>Sheet</a:t>
            </a:r>
            <a:r>
              <a:rPr lang="pt-BR" sz="3200" dirty="0">
                <a:solidFill>
                  <a:srgbClr val="494949"/>
                </a:solidFill>
              </a:rPr>
              <a:t> Series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94949"/>
                </a:solidFill>
              </a:rPr>
              <a:t>OWASP Top 10 for Large Language Model Applications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Imagem 4" descr="Forma&#10;&#10;Descrição gerada automaticamente com confiança média">
            <a:extLst>
              <a:ext uri="{FF2B5EF4-FFF2-40B4-BE49-F238E27FC236}">
                <a16:creationId xmlns:a16="http://schemas.microsoft.com/office/drawing/2014/main" id="{D1217B2A-DA82-C832-4BB7-5F3D1F70BE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7818437" y="2125662"/>
            <a:ext cx="3429000" cy="34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2365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C27F-7A43-AE2C-E86D-186F6944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45480-E9C0-2E4A-B209-BD8F9D6E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Software Supply Chain Failures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8B2E61-27D4-66A4-7C94-E63B6E108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7617691" cy="496135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3ª vulnerabilidade OWASP </a:t>
            </a:r>
            <a:r>
              <a:rPr lang="pt-BR" sz="3200">
                <a:solidFill>
                  <a:srgbClr val="494949"/>
                </a:solidFill>
              </a:rPr>
              <a:t>Top 10:2025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Cuidados com pacotes </a:t>
            </a:r>
            <a:r>
              <a:rPr lang="pt-BR" sz="3200" dirty="0" err="1">
                <a:solidFill>
                  <a:srgbClr val="494949"/>
                </a:solidFill>
              </a:rPr>
              <a:t>NuGet</a:t>
            </a:r>
            <a:r>
              <a:rPr lang="pt-BR" sz="3200" dirty="0">
                <a:solidFill>
                  <a:srgbClr val="494949"/>
                </a:solidFill>
              </a:rPr>
              <a:t>, </a:t>
            </a:r>
            <a:r>
              <a:rPr lang="pt-BR" sz="3200" dirty="0" err="1">
                <a:solidFill>
                  <a:srgbClr val="494949"/>
                </a:solidFill>
              </a:rPr>
              <a:t>npm</a:t>
            </a:r>
            <a:r>
              <a:rPr lang="pt-BR" sz="3200" dirty="0">
                <a:solidFill>
                  <a:srgbClr val="494949"/>
                </a:solidFill>
              </a:rPr>
              <a:t>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Imagens Docker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Soluções SAST para </a:t>
            </a:r>
            <a:r>
              <a:rPr lang="pt-BR" sz="3200" dirty="0" err="1">
                <a:solidFill>
                  <a:srgbClr val="494949"/>
                </a:solidFill>
              </a:rPr>
              <a:t>scan</a:t>
            </a:r>
            <a:r>
              <a:rPr lang="pt-BR" sz="3200" dirty="0">
                <a:solidFill>
                  <a:srgbClr val="494949"/>
                </a:solidFill>
              </a:rPr>
              <a:t> de </a:t>
            </a:r>
            <a:r>
              <a:rPr lang="pt-BR" sz="3200" dirty="0" err="1">
                <a:solidFill>
                  <a:srgbClr val="494949"/>
                </a:solidFill>
              </a:rPr>
              <a:t>packages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Docker </a:t>
            </a:r>
            <a:r>
              <a:rPr lang="pt-BR" sz="3200" dirty="0" err="1">
                <a:solidFill>
                  <a:srgbClr val="494949"/>
                </a:solidFill>
              </a:rPr>
              <a:t>Hardened</a:t>
            </a:r>
            <a:r>
              <a:rPr lang="pt-BR" sz="3200" dirty="0">
                <a:solidFill>
                  <a:srgbClr val="494949"/>
                </a:solidFill>
              </a:rPr>
              <a:t> Images</a:t>
            </a:r>
          </a:p>
        </p:txBody>
      </p:sp>
      <p:pic>
        <p:nvPicPr>
          <p:cNvPr id="5" name="Imagem 4" descr="Forma&#10;&#10;Descrição gerada automaticamente com confiança média">
            <a:extLst>
              <a:ext uri="{FF2B5EF4-FFF2-40B4-BE49-F238E27FC236}">
                <a16:creationId xmlns:a16="http://schemas.microsoft.com/office/drawing/2014/main" id="{F11BBDF8-5043-10D6-2C1D-74F702DAE9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8123237" y="1016834"/>
            <a:ext cx="3429000" cy="348981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D429D50C-EFB3-9BFF-D985-2D5031CCE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837" y="4495762"/>
            <a:ext cx="1427010" cy="112688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1ECEA1E-48E9-6B60-8841-5F3B53A5247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33000" contrast="87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847" y="4442048"/>
            <a:ext cx="1180599" cy="1180599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B3CB83C3-0B00-0259-7E38-A23491A8A2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9353" y="4442048"/>
            <a:ext cx="1180599" cy="118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1086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B8F9-45E9-DFEF-F8DA-EBFE46D5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B40E6-7DAF-377A-6C95-BACDB3C1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A1DA936C-9BCD-5838-47C1-0CD99CA20E5F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5447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600" b="1" dirty="0">
                <a:solidFill>
                  <a:schemeClr val="bg1"/>
                </a:solidFill>
              </a:rPr>
              <a:t>github.com/renatogroffe/owasp-api-top-10_devpira-security-wknd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F45F782E-3D3A-A51F-E8CD-F7821B3ED93B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5" name="Imagem 4" descr="Forma&#10;&#10;Descrição gerada automaticamente com confiança média">
            <a:extLst>
              <a:ext uri="{FF2B5EF4-FFF2-40B4-BE49-F238E27FC236}">
                <a16:creationId xmlns:a16="http://schemas.microsoft.com/office/drawing/2014/main" id="{BEBC8804-A902-AEFF-57B6-0B4D008CF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06"/>
          <a:stretch/>
        </p:blipFill>
        <p:spPr>
          <a:xfrm>
            <a:off x="5250234" y="4728908"/>
            <a:ext cx="1936006" cy="19703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94C6A6C-55FB-A01E-FBC0-1C729F49C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05" y="989518"/>
            <a:ext cx="2887663" cy="288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4234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1707</TotalTime>
  <Words>1685</Words>
  <Application>Microsoft Office PowerPoint</Application>
  <PresentationFormat>Personalizar</PresentationFormat>
  <Paragraphs>270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30</vt:i4>
      </vt:variant>
    </vt:vector>
  </HeadingPairs>
  <TitlesOfParts>
    <vt:vector size="41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OWASP API Security Top 10 Um guia para a implementação de Back-Ends mais seguros</vt:lpstr>
      <vt:lpstr>Renato Groffe</vt:lpstr>
      <vt:lpstr>Participe de nossas iniciativas gratuitas</vt:lpstr>
      <vt:lpstr>Certificações Gratuitas em Segurança</vt:lpstr>
      <vt:lpstr>Conteúdos desta apresentação</vt:lpstr>
      <vt:lpstr>Agenda</vt:lpstr>
      <vt:lpstr>Conceitos e pontos importantes</vt:lpstr>
      <vt:lpstr>OWASP API Security Top 10: uma visão geral</vt:lpstr>
      <vt:lpstr>OWASP API Security Top 10: uma visão geral</vt:lpstr>
      <vt:lpstr>API1:2023 - Broken Object Level Authorization (BOLA)</vt:lpstr>
      <vt:lpstr>API1:2023 - Broken Object Level Authorization (BOLA)</vt:lpstr>
      <vt:lpstr>API2:2023 - Broken Authentication</vt:lpstr>
      <vt:lpstr>API3:2023 - Broken Object Property Level Authorization (BOPLA)</vt:lpstr>
      <vt:lpstr>API4:2023 - Unrestricted Resource Consumption</vt:lpstr>
      <vt:lpstr>API4:2023 - Unrestricted Resource Consumption</vt:lpstr>
      <vt:lpstr>API4:2023 - Unrestricted Resource Consumption</vt:lpstr>
      <vt:lpstr>API5:2023 - Broken Function Level Authorization (BFLA)</vt:lpstr>
      <vt:lpstr>API6:2023 - Unrestricted Access to Sensitive Business Flows</vt:lpstr>
      <vt:lpstr>API7:2023 Server Side Request Forgery  (SSRF)</vt:lpstr>
      <vt:lpstr>API7:2023 Server Side Request Forgery  (SSRF)</vt:lpstr>
      <vt:lpstr>API8:2023 - Security Misconfiguration</vt:lpstr>
      <vt:lpstr>API8:2023 - Security Misconfiguration</vt:lpstr>
      <vt:lpstr>API9:2023 - Improper Inventory Management</vt:lpstr>
      <vt:lpstr>API10:2023 - Unsafe Consumption of APIs</vt:lpstr>
      <vt:lpstr>Certificações Gratuitas em Segurança</vt:lpstr>
      <vt:lpstr>Certificações Gratuitas em Cibersegurança</vt:lpstr>
      <vt:lpstr>Outras iniciativas OWASP importantes</vt:lpstr>
      <vt:lpstr>Software Supply Chain Failures</vt:lpstr>
      <vt:lpstr>Conteúdos desta apresentação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503</cp:revision>
  <dcterms:created xsi:type="dcterms:W3CDTF">2016-08-05T22:03:34Z</dcterms:created>
  <dcterms:modified xsi:type="dcterms:W3CDTF">2026-03-27T05:45:09Z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